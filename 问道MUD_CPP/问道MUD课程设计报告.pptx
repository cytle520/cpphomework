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900000"/>
            <a:ext cx="54000" cy="360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00" y="900000"/>
            <a:ext cx="18000" cy="3600000"/>
          </a:xfrm>
          <a:prstGeom prst="rect">
            <a:avLst/>
          </a:prstGeom>
          <a:solidFill>
            <a:srgbClr val="F5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080000"/>
            <a:ext cx="9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华文行楷"/>
              </a:rPr>
              <a:t>问  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1980000"/>
            <a:ext cx="90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9A227"/>
                </a:solidFill>
                <a:latin typeface="楷体"/>
              </a:rPr>
              <a:t>—— 古典哲学 MUD 文字游戏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2520000"/>
            <a:ext cx="90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F0F8"/>
                </a:solidFill>
                <a:latin typeface="微软雅黑"/>
              </a:rPr>
              <a:t>程序设计基础实践 · 课程设计报告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38000"/>
            <a:ext cx="12191695" cy="28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0000" y="6246000"/>
            <a:ext cx="90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F0F8"/>
                </a:solidFill>
                <a:latin typeface="微软雅黑"/>
              </a:rPr>
              <a:t>开发语言：C++（C++17）    |   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900000" y="1007999"/>
            <a:ext cx="468000" cy="468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9A227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8000" y="1007999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微软雅黑"/>
              </a:rP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007999"/>
            <a:ext cx="54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游戏背景、特色与设计目标</a:t>
            </a:r>
          </a:p>
        </p:txBody>
      </p:sp>
      <p:sp>
        <p:nvSpPr>
          <p:cNvPr id="9" name="Oval 8"/>
          <p:cNvSpPr/>
          <p:nvPr/>
        </p:nvSpPr>
        <p:spPr>
          <a:xfrm>
            <a:off x="900000" y="1241999"/>
            <a:ext cx="468000" cy="468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9A227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8000" y="1241999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微软雅黑"/>
              </a:rPr>
              <a:t>需求分析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0" y="1241999"/>
            <a:ext cx="54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功能需求、非功能需求、用例分析</a:t>
            </a:r>
          </a:p>
        </p:txBody>
      </p:sp>
      <p:sp>
        <p:nvSpPr>
          <p:cNvPr id="12" name="Oval 11"/>
          <p:cNvSpPr/>
          <p:nvPr/>
        </p:nvSpPr>
        <p:spPr>
          <a:xfrm>
            <a:off x="900000" y="1475999"/>
            <a:ext cx="468000" cy="468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9A227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8000" y="1475999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微软雅黑"/>
              </a:rPr>
              <a:t>面向对象设计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0" y="1475999"/>
            <a:ext cx="54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系统架构、UML 类图、核心流程、WBS</a:t>
            </a:r>
          </a:p>
        </p:txBody>
      </p:sp>
      <p:sp>
        <p:nvSpPr>
          <p:cNvPr id="15" name="Oval 14"/>
          <p:cNvSpPr/>
          <p:nvPr/>
        </p:nvSpPr>
        <p:spPr>
          <a:xfrm>
            <a:off x="900000" y="1709999"/>
            <a:ext cx="468000" cy="468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9A227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8000" y="1709999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微软雅黑"/>
              </a:rPr>
              <a:t>核心功能实现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0" y="1709999"/>
            <a:ext cx="54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数据加载、玩家、战斗、剧情、UI</a:t>
            </a:r>
          </a:p>
        </p:txBody>
      </p:sp>
      <p:sp>
        <p:nvSpPr>
          <p:cNvPr id="18" name="Oval 17"/>
          <p:cNvSpPr/>
          <p:nvPr/>
        </p:nvSpPr>
        <p:spPr>
          <a:xfrm>
            <a:off x="900000" y="1943999"/>
            <a:ext cx="468000" cy="468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9A227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8000" y="1943999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微软雅黑"/>
              </a:rPr>
              <a:t>数据设计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0" y="1943999"/>
            <a:ext cx="54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6 个数据文件的结构与关系</a:t>
            </a:r>
          </a:p>
        </p:txBody>
      </p:sp>
      <p:sp>
        <p:nvSpPr>
          <p:cNvPr id="21" name="Oval 20"/>
          <p:cNvSpPr/>
          <p:nvPr/>
        </p:nvSpPr>
        <p:spPr>
          <a:xfrm>
            <a:off x="900000" y="2177999"/>
            <a:ext cx="468000" cy="468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9A227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8000" y="2177999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微软雅黑"/>
              </a:rPr>
              <a:t>系统测试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0" y="2177999"/>
            <a:ext cx="54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测试方法、用例与结果、问题修复</a:t>
            </a:r>
          </a:p>
        </p:txBody>
      </p:sp>
      <p:sp>
        <p:nvSpPr>
          <p:cNvPr id="24" name="Oval 23"/>
          <p:cNvSpPr/>
          <p:nvPr/>
        </p:nvSpPr>
        <p:spPr>
          <a:xfrm>
            <a:off x="900000" y="2411999"/>
            <a:ext cx="468000" cy="468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9A227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8000" y="2411999"/>
            <a:ext cx="288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微软雅黑"/>
              </a:rPr>
              <a:t>总结与展望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0" y="2411999"/>
            <a:ext cx="540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成果总结、不足与未来方向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一、项目概述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3C6E"/>
                </a:solidFill>
                <a:latin typeface="微软雅黑"/>
              </a:rPr>
              <a:t>游戏简介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260000"/>
            <a:ext cx="1440000" cy="28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404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《问道》是一款以中国古典哲学为内核的单机版 MUD 文字游戏。MUD（Multiple User Domain）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是最早的网络游戏形态，以纯文字描述构建虚拟世界。本项目将传统武侠题材转变为诸子百家的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哲学求索，玩家扮演乱世学子，从白鹿书院出发，与儒、道、法、墨各家先贤论道辩经。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升级体系取自《大学》"八条目"：格物 → 致知 → 诚意 → 正心 → 修身 → 齐家 → 治国 → 平天下。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战斗以"论道辩经"替代武力打斗，气血代表心理防线，心神代表精力，技能对应辩论招式。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4140000"/>
            <a:ext cx="3420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4248000"/>
            <a:ext cx="342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C9A227"/>
                </a:solidFill>
                <a:latin typeface="微软雅黑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968000"/>
            <a:ext cx="34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3C6E"/>
                </a:solidFill>
                <a:latin typeface="微软雅黑"/>
              </a:rPr>
              <a:t>地图房间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5292000"/>
            <a:ext cx="34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/>
              </a:rPr>
              <a:t>书院·小镇·都城·边关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1999" y="4140000"/>
            <a:ext cx="3420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1999" y="4248000"/>
            <a:ext cx="342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C9A227"/>
                </a:solidFill>
                <a:latin typeface="微软雅黑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1999" y="4968000"/>
            <a:ext cx="34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3C6E"/>
                </a:solidFill>
                <a:latin typeface="微软雅黑"/>
              </a:rPr>
              <a:t>NPC 人物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1999" y="5292000"/>
            <a:ext cx="34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/>
              </a:rPr>
              <a:t>先贤·商人·士兵·隐士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3998" y="4140000"/>
            <a:ext cx="3420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3998" y="4248000"/>
            <a:ext cx="342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C9A227"/>
                </a:solidFill>
                <a:latin typeface="微软雅黑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3998" y="4968000"/>
            <a:ext cx="34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3C6E"/>
                </a:solidFill>
                <a:latin typeface="微软雅黑"/>
              </a:rPr>
              <a:t>论道招式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3998" y="5292000"/>
            <a:ext cx="34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/>
              </a:rPr>
              <a:t>直言·雄辩·浩然正气·无为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项目特色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007999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007999"/>
            <a:ext cx="72000" cy="136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1115999"/>
            <a:ext cx="46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古典哲学题材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475999"/>
            <a:ext cx="468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儒、道、法、墨诸子百家思想融入剧情与技能，寓教于乐，文化内涵深厚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1007999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0000" y="1007999"/>
            <a:ext cx="72000" cy="136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6000" y="1115999"/>
            <a:ext cx="46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数据驱动架构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1475999"/>
            <a:ext cx="468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6 个独立数据文件控制全部游戏内容，修改地图/NPC/剧情无需改动引擎代码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2592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0000" y="2592000"/>
            <a:ext cx="72000" cy="136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000" y="2700000"/>
            <a:ext cx="46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数字菜单交互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3060000"/>
            <a:ext cx="468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全程数字选择操作，无需记忆任何指令，任何菜单按回车即可返回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592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000" y="2592000"/>
            <a:ext cx="72000" cy="136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6000" y="2700000"/>
            <a:ext cx="46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完整 OOP 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000" y="3060000"/>
            <a:ext cx="468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10 个核心类，封装、组合、单一职责等面向对象原则充分运用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4176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0000" y="4176000"/>
            <a:ext cx="72000" cy="136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000" y="4284000"/>
            <a:ext cx="46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彩色终端界面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000" y="4644000"/>
            <a:ext cx="468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ANSI 转义码实现彩色文字、血条、分隔线，视觉效果远超传统黑白 MUD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000" y="4176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0000" y="4176000"/>
            <a:ext cx="72000" cy="136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6000" y="4284000"/>
            <a:ext cx="46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剧情任务系统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6000" y="4644000"/>
            <a:ext cx="468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6 章主线剧情，支持对话、击败、拾取、进入房间等多种事件触发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二、需求分析 — 功能需求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936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990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F1 角色创建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990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输入名字，初始化属性、背包、技能、初始位置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602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F2 地图移动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1602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按方向在房间间移动，加载显示目标场景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160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000" y="2214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F3 场景查看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0000" y="2214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显示房间名称、描述、出口、NPC、物品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772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2826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F4 NPC 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0" y="2826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选择 NPC 对话，获取信息或推进剧情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3384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000" y="3438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F5 论道战斗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60000" y="3438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回合制辩论，使用技能和物品，可逃跑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3996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000" y="4050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F6 物品拾取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0000" y="4050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拾取房间地上物品，加入背包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4608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000" y="4662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F7 背包管理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0000" y="4662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查看物品，使用消耗品，装备武器护甲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000" y="936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4000" y="990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F8 角色状态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0000" y="990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查看等级、境界、气血、心神、攻防、银两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0000" y="1548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4000" y="1602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F9 技能查看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000" y="1602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查看已学招式及效果描述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0000" y="2160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4000" y="2214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F10 任务追踪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0000" y="2214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显示当前主线章节和任务目标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000" y="2772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4000" y="2826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F11 商店交易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0000" y="2826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在商人处花费银两购买物品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0000" y="3384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4000" y="3438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F12 休息恢复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0000" y="3438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打坐恢复部分气血和心神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0000" y="3996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4000" y="4050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F13 升级系统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0000" y="4050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经验达标自动升级，属性成长解锁技能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0000" y="4608000"/>
            <a:ext cx="5220000" cy="5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4000" y="4662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</a:rPr>
              <a:t>F14 剧情推进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0000" y="4662000"/>
            <a:ext cx="34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/>
              </a:rPr>
              <a:t>根据玩家行为自动触发剧情，发放奖励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需求分析 — 非功能需求与用例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非功能需求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可维护性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模块间低耦合，UI层、业务逻辑层、数据层分离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可扩展性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新增房间/NPC/物品/技能/剧情只需编辑数据文件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可移植性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标准 C++17，无第三方依赖，跨平台编译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易用性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全程数字菜单，空输入返回，降低上手门槛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健壮性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无效输入校验提示，避免程序崩溃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性能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启动加载 &lt; 1 秒，操作响应即时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用例分析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参与者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玩家（通过数字菜单与游戏世界交互）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主要用例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移动、对话、论道战斗、拾取物品、使用物品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装备物品、查看状态、查看技能、查看任务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商店交易、休息恢复、升级突破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包含用例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论道战斗包含：选择招式、战斗中使用物品、逃跑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扩展用例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升级突破由经验值自动触发，包含属性成长和技能解锁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横切关注点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剧情推进：对话/战斗/移动/拾取均可触发剧情事件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三、面向对象设计 —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1080000"/>
            <a:ext cx="1440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1080000"/>
            <a:ext cx="144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控制层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2000" y="1080000"/>
            <a:ext cx="828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8000" y="1152000"/>
            <a:ext cx="79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3C6E"/>
                </a:solidFill>
                <a:latin typeface="微软雅黑"/>
              </a:rPr>
              <a:t>Game（游戏主控制器）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8000" y="1476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</a:rPr>
              <a:t>菜单解析 · 游戏循环 · 子系统调度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0" y="1980000"/>
            <a:ext cx="1440000" cy="792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1980000"/>
            <a:ext cx="144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系统层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2000" y="1980000"/>
            <a:ext cx="828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8000" y="2052000"/>
            <a:ext cx="79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3C6E"/>
                </a:solidFill>
                <a:latin typeface="微软雅黑"/>
              </a:rPr>
              <a:t>Combat · StoryManager ·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000" y="2376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</a:rPr>
              <a:t>战斗系统 · 剧情系统 · 界面渲染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2880000"/>
            <a:ext cx="1440000" cy="792000"/>
          </a:xfrm>
          <a:prstGeom prst="rect">
            <a:avLst/>
          </a:prstGeom>
          <a:solidFill>
            <a:srgbClr val="4A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0000" y="2880000"/>
            <a:ext cx="144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模型层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2000" y="2880000"/>
            <a:ext cx="828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08000" y="2952000"/>
            <a:ext cx="79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3C6E"/>
                </a:solidFill>
                <a:latin typeface="微软雅黑"/>
              </a:rPr>
              <a:t>Player · NPC · Room · Item · 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8000" y="3276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</a:rPr>
              <a:t>游戏实体对象 · 属性与行为封装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0" y="3780000"/>
            <a:ext cx="1440000" cy="792000"/>
          </a:xfrm>
          <a:prstGeom prst="rect">
            <a:avLst/>
          </a:prstGeom>
          <a:solidFill>
            <a:srgbClr val="6BA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000" y="3780000"/>
            <a:ext cx="144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92000" y="3780000"/>
            <a:ext cx="8280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8000" y="3852000"/>
            <a:ext cx="79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A3C6E"/>
                </a:solidFill>
                <a:latin typeface="微软雅黑"/>
              </a:rPr>
              <a:t>GameData（数据容器 + INI解析器）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8000" y="4176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</a:rPr>
              <a:t>加载6个数据文件 · 提供查询接口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" y="4860000"/>
            <a:ext cx="1008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  <a:latin typeface="微软雅黑"/>
              </a:rPr>
              <a:t>设计原则：分层依赖（上层依赖下层）、视图与业务逻辑分离、数据与引擎分离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面向对象设计 — UML 类图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36000"/>
            <a:ext cx="2520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36000"/>
            <a:ext cx="2520000" cy="36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936000"/>
            <a:ext cx="25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332000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- rooms: map&lt;string,Room&gt;
- player: Player*
- story: StoryManager*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124000"/>
            <a:ext cx="237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96000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C5F8A"/>
                </a:solidFill>
                <a:latin typeface="微软雅黑"/>
              </a:rPr>
              <a:t>+ start()
+ game_loop()
+ do_move/talk/debate()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0000" y="936000"/>
            <a:ext cx="2520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0000" y="936000"/>
            <a:ext cx="2520000" cy="36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0000" y="936000"/>
            <a:ext cx="25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GameData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2000" y="1332000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- rooms/npcs/items/skills: map
- levels: vector
- chapters: vector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2000" y="2124000"/>
            <a:ext cx="237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2000" y="2196000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C5F8A"/>
                </a:solidFill>
                <a:latin typeface="微软雅黑"/>
              </a:rPr>
              <a:t>+ load_all()
+ get_room/npc/item()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0" y="936000"/>
            <a:ext cx="2520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000" y="936000"/>
            <a:ext cx="2520000" cy="36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0" y="936000"/>
            <a:ext cx="25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Player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2000" y="1332000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- hp/mp/attack/defense
- inventory: vector&lt;Item&gt;
- skills: vector&lt;Skill&gt;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2000" y="2124000"/>
            <a:ext cx="237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2000" y="2196000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C5F8A"/>
                </a:solidFill>
                <a:latin typeface="微软雅黑"/>
              </a:rPr>
              <a:t>+ gain_exp()
+ use_item()
+ total_attack()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0000" y="936000"/>
            <a:ext cx="2520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60000" y="936000"/>
            <a:ext cx="2520000" cy="36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0000" y="936000"/>
            <a:ext cx="25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NPC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2000" y="1332000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- type: mentor/enemy/merchant
- dialogues: vector
- skills: vector&lt;Skill&gt;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32000" y="2124000"/>
            <a:ext cx="237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2000" y="2196000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C5F8A"/>
                </a:solidFill>
                <a:latin typeface="微软雅黑"/>
              </a:rPr>
              <a:t>+ next_dialogue()
+ choose_skill()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3311999"/>
            <a:ext cx="2520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3311999"/>
            <a:ext cx="2520000" cy="36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" y="3311999"/>
            <a:ext cx="25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3707999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- exits: vector&lt;pair&gt;
- npcs: vector&lt;NPC&gt;
- items: vector&lt;Item&gt;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4499999"/>
            <a:ext cx="237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000" y="4571999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C5F8A"/>
                </a:solidFill>
                <a:latin typeface="微软雅黑"/>
              </a:rPr>
              <a:t>+ get_exit()
+ find_npc()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0000" y="3311999"/>
            <a:ext cx="2520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60000" y="3311999"/>
            <a:ext cx="2520000" cy="36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0000" y="3311999"/>
            <a:ext cx="25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Combat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32000" y="3707999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- player: Player*
- npc: NPC*
- player_mp: 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2000" y="4499999"/>
            <a:ext cx="237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32000" y="4571999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C5F8A"/>
                </a:solidFill>
                <a:latin typeface="微软雅黑"/>
              </a:rPr>
              <a:t>+ start()
+ calc_damage()
+ player_turn()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000" y="3311999"/>
            <a:ext cx="2520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60000" y="3311999"/>
            <a:ext cx="2520000" cy="36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000" y="3311999"/>
            <a:ext cx="25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StoryManager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000" y="3707999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- chapter_idx, step_idx
- pending_exp/item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32000" y="4499999"/>
            <a:ext cx="237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32000" y="4571999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C5F8A"/>
                </a:solidFill>
                <a:latin typeface="微软雅黑"/>
              </a:rPr>
              <a:t>+ check_event()
+ current_step()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60000" y="3311999"/>
            <a:ext cx="2520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60000" y="3311999"/>
            <a:ext cx="2520000" cy="36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60000" y="3311999"/>
            <a:ext cx="25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UI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32000" y="3707999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- width: int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32000" y="4499999"/>
            <a:ext cx="237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2000" y="4571999"/>
            <a:ext cx="237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C5F8A"/>
                </a:solidFill>
                <a:latin typeface="微软雅黑"/>
              </a:rPr>
              <a:t>+ main_menu()
+ show_status()
+ prompt_int()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5580000"/>
            <a:ext cx="111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/>
              </a:rPr>
              <a:t>关系：Game 聚合所有类；Player/NPC/Room 组合 Item/Skill；Combat 关联 Player 和 NPC；组合优于继承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面向对象设计 — 核心流程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游戏主流程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1A3C6E"/>
                </a:solidFill>
                <a:latin typeface="微软雅黑"/>
              </a:rPr>
              <a:t>启动 → 加载数据 → 创建玩家 → 初始化剧情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显示当前房间 → 主菜单循环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2C5F8A"/>
                </a:solidFill>
                <a:latin typeface="微软雅黑"/>
              </a:rPr>
              <a:t>菜单选项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1.移动 → 选方向 → 切换房间 → 触发事件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2.对话 → 选NPC → 显示对话 → 触发事件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3.论道 → 选敌人 → 进入战斗系统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4.拾取 → 选物品 → 加入背包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5.背包 → 使用/装备物品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6.状态 / 7.技能 / 8.任务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9.商店 → 购买物品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0.休息 → 恢复气血心神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C9A227"/>
                </a:solidFill>
                <a:latin typeface="微软雅黑"/>
              </a:rPr>
              <a:t>每次循环检查剧情奖励 → 玩家阵亡或选退出则结束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论道战斗流程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1A3C6E"/>
                </a:solidFill>
                <a:latin typeface="微软雅黑"/>
              </a:rPr>
              <a:t>开始 → 显示双方血条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2C5F8A"/>
                </a:solidFill>
                <a:latin typeface="微软雅黑"/>
              </a:rPr>
              <a:t>玩家回合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1.直言（普通攻击）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2.招式 → 选技能 → 检查心神 → 结算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3.物品 → 选消耗品 → 使用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4.逃跑 → 结束战斗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2C5F8A"/>
                </a:solidFill>
                <a:latin typeface="微软雅黑"/>
              </a:rPr>
              <a:t>NPC 回合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AI 随机选技能 → 计算伤害 → 结算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2C5F8A"/>
                </a:solidFill>
                <a:latin typeface="微软雅黑"/>
              </a:rPr>
              <a:t>回合结束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增益持续时间 -1，心神 +2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C9A227"/>
                </a:solidFill>
                <a:latin typeface="微软雅黑"/>
              </a:rPr>
              <a:t>循环直到一方阵亡或逃跑 → 结算奖励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面向对象设计 — 工作分解结构（WBS）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007999"/>
            <a:ext cx="216000" cy="57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1043999"/>
            <a:ext cx="36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1. 需求分析与设计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0" y="1079999"/>
            <a:ext cx="64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世界观设计 · 用例分析 · UML类图 · 流程图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673999"/>
            <a:ext cx="216000" cy="576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" y="1709999"/>
            <a:ext cx="36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2. 数据层开发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0" y="1745999"/>
            <a:ext cx="64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maps / npcs / items / skills / levels / story 6个数据文件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2339999"/>
            <a:ext cx="216000" cy="576000"/>
          </a:xfrm>
          <a:prstGeom prst="rect">
            <a:avLst/>
          </a:prstGeom>
          <a:solidFill>
            <a:srgbClr val="4A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2375999"/>
            <a:ext cx="36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3. 引擎层开发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0" y="2411999"/>
            <a:ext cx="64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数据加载器 · 玩家类 · NPC类 · 房间类 · 物品类 · 技能类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3005999"/>
            <a:ext cx="216000" cy="576000"/>
          </a:xfrm>
          <a:prstGeom prst="rect">
            <a:avLst/>
          </a:prstGeom>
          <a:solidFill>
            <a:srgbClr val="6BA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3041999"/>
            <a:ext cx="36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4. 系统层开发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0" y="3077999"/>
            <a:ext cx="64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战斗系统 · 剧情系统 · UI界面系统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3671999"/>
            <a:ext cx="216000" cy="576000"/>
          </a:xfrm>
          <a:prstGeom prst="rect">
            <a:avLst/>
          </a:prstGeom>
          <a:solidFill>
            <a:srgbClr val="8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000" y="3707999"/>
            <a:ext cx="36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5. 控制层开发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3743999"/>
            <a:ext cx="64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游戏主控制器 · 主入口函数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4337999"/>
            <a:ext cx="216000" cy="576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000" y="4373999"/>
            <a:ext cx="36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6. 集成与测试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0" y="4409999"/>
            <a:ext cx="64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数据完整性 · 引用关系 · 核心逻辑测试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5003999"/>
            <a:ext cx="216000" cy="576000"/>
          </a:xfrm>
          <a:prstGeom prst="rect">
            <a:avLst/>
          </a:prstGeom>
          <a:solidFill>
            <a:srgbClr val="D4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5039999"/>
            <a:ext cx="36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3C6E"/>
                </a:solidFill>
                <a:latin typeface="微软雅黑"/>
              </a:rPr>
              <a:t>7. 文档编写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0000" y="5075999"/>
            <a:ext cx="64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设计文档 · 使用说明 · 课程设计报告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四、核心功能实现 — 数据加载与玩家系统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数据加载模块（GameData）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INI 格式解析器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[节名] 分隔条目，key=value 存储属性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支持同一 key 多行（对话列表、出口列表）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# 开头为注释行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加载流程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parse_ini() → 原始键值对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load_maps/npcs/items/...() → 强类型结构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1">
                <a:solidFill>
                  <a:srgbClr val="2C5F8A"/>
                </a:solidFill>
                <a:latin typeface="微软雅黑"/>
              </a:rPr>
              <a:t>代码示例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if (line[0]=='[' &amp;&amp; line.back()==']')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    current_section = ...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result[section][key].push_back(value)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微软雅黑"/>
              </a:rPr>
              <a:t>优势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数据格式与业务逻辑解耦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更换格式只需修改解析层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玩家系统（Player）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属性管理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气血/心神/攻击/防御/银两/经验/等级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初始值从 levels.txt 的 [base] 加载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升级机制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gain_exp() 循环检测阈值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支持一次获得大量经验连续升级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升级时属性成长 + 气血回满 + 解锁技能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装备系统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用物品 ID 存储（非指针）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避免 vector 扩容导致指针失效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total_attack/defense 实时计算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背包操作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add/remove/has/use/equip 五种操作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消耗品使用后移除，装备保留在背包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核心功能实现 — 战斗与剧情系统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战斗系统（Combat）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伤害公式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攻击力 × 技能倍率 − 防御力/2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× 0.8~1.2 随机浮动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保证防御有效 + 增加不确定性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回合制流程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玩家回合：直言/招式/物品/逃跑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招式需消耗心神（MP）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NPC 回合：AI 随机选择技能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每回合心神恢复 2 点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技能类型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attack（攻击）：雄辩、浩然正气、无为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heal（治疗）：吐纳、兼爱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buff（增益）：仁者气场、非攻之盾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微软雅黑"/>
              </a:rPr>
              <a:t>结算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胜利 → 经验 + 掉落物品 + 剧情事件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战败 → 回到出生点，恢复一半气血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剧情系统（StoryManager）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事件驱动机制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玩家操作生成事件（类型+目标ID）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check_event() 与当前步骤匹配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匹配成功 → 显示对话 → 推进步骤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步骤类型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talk（与NPC对话）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defeat（击败NPC）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get_item（获得物品）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enter_room（进入房间）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use_item_on（对NPC使用物品）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1A3C6E"/>
                </a:solidFill>
                <a:latin typeface="微软雅黑"/>
              </a:rPr>
              <a:t>章节管理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6 章主线，每章多个步骤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步骤完成可发放经验/物品奖励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最后一步完成 → 激活下一章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微软雅黑"/>
              </a:rPr>
              <a:t>优势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剧情完全外置，新增只需编辑数据文件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核心功能实现 — 界面交互系统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3C6E"/>
                </a:solidFill>
                <a:latin typeface="微软雅黑"/>
              </a:rPr>
              <a:t>UI 类：封装所有终端输出与输入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260000"/>
            <a:ext cx="1440000" cy="28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440000"/>
            <a:ext cx="3528000" cy="39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440000"/>
            <a:ext cx="3528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440000"/>
            <a:ext cx="352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彩色终端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1944000"/>
            <a:ext cx="3240000" cy="331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Windows 启用 ANSI 支持
• SetConsoleMode + ENABLE_VIRTUAL_TERMINAL_PROCESSING
• 彩色文字：标题金色、玩家绿色、敌人红色
• 血条渲染：# 和 - 字符 + 颜色渐变
• 分隔线：═ / ─ 字符装饰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8000" y="1440000"/>
            <a:ext cx="3528000" cy="39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8000" y="1440000"/>
            <a:ext cx="3528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8000" y="1440000"/>
            <a:ext cx="352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数字菜单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2000" y="1944000"/>
            <a:ext cx="3240000" cy="331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main_menu()：主菜单 0-9 + q
• move_menu()：方向选择
• npc_menu()：NPC选择（带类型标签）
• item_menu()：物品选择
• prompt_int()：统一输入校验
• 空输入视为取消返回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6000" y="1440000"/>
            <a:ext cx="3528000" cy="39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6000" y="1440000"/>
            <a:ext cx="3528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6000" y="1440000"/>
            <a:ext cx="352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状态显示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0000" y="1944000"/>
            <a:ext cx="3240000" cy="331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• show_room()：房间完整描述
• show_status()：角色属性+经验+装备
• show_inventory()：背包+类型标签
• show_skills()：技能+心神消耗
• show_combat_status()：双方血条
• show_shop()：商品列表+价格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五、数据设计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080000"/>
          <a:ext cx="10548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080000"/>
                <a:gridCol w="5868000"/>
              </a:tblGrid>
              <a:tr h="4114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数据文件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关键字段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maps.txt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地图房间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name, desc, exit方向, npc,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npcs.txt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NPC人物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name, type, hp/atk/def, dialogue, skill, shop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items.txt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物品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name, type, slot, effect,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skills.txt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技能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name, type, damage, cost, heal, unlock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levels.txt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境界等级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name, exp, hp_grow, atk_grow, unlock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3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story.txt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剧情任务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6章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title, stepN_type, stepN_target, reward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0000" y="4248000"/>
            <a:ext cx="1044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数据格式：自定义 INI（[节名] + key=value，支持多行值，#注释）
引用关系：房间→NPC/物品，NPC→技能/掉落/商品，等级→解锁技能，剧情→NPC/物品/房间
effect 字段紧凑格式：heal:50 / buff:attack:5:3 / exp:20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六、系统测试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测试用例与结果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A3C6E"/>
                </a:solidFill>
                <a:latin typeface="微软雅黑"/>
              </a:rPr>
              <a:t>数据完整性（6项）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6个文件格式合法 · 数量匹配 · 出生点有效 → 全部通过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A3C6E"/>
                </a:solidFill>
                <a:latin typeface="微软雅黑"/>
              </a:rPr>
              <a:t>引用关系（80+项）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房间出口/ NPC/物品引用 · NPC技能/掉落/商品引用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等级解锁技能引用 → 全部通过，无悬空引用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A3C6E"/>
                </a:solidFill>
                <a:latin typeface="微软雅黑"/>
              </a:rPr>
              <a:t>核心逻辑（8项）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玩家初始化 · 升级解锁 · 物品使用 · 装备计算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伤害公式 · 剧情触发 → 全部通过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A3C6E"/>
                </a:solidFill>
                <a:latin typeface="微软雅黑"/>
              </a:rPr>
              <a:t>健壮性（4项）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无效输入提示 · 空输入返回 · 边界值处理 → 全部通过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C9A227"/>
                </a:solidFill>
                <a:latin typeface="微软雅黑"/>
              </a:rPr>
              <a:t>总计：139 项测试，0 失败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发现并修复的问题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</a:rPr>
              <a:t>1. 装备指针悬空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vector扩容导致装备指针失效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→ 改为物品ID存储，实时查找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</a:rPr>
              <a:t>2. 拾取物品内存泄漏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new创建对象未释放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→ 改为引用参数返回对象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</a:rPr>
              <a:t>3. 战斗函数调用错误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msg() 未加 ui-&gt; 前缀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→ 全部修正为 ui-&gt;msg()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微软雅黑"/>
              </a:rPr>
              <a:t>4. 血条字符编码异常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扩展字符在UTF-8终端显示异常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→ 改为ASCII字符 # 和 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游戏世界观与剧情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3C6E"/>
                </a:solidFill>
                <a:latin typeface="微软雅黑"/>
              </a:rPr>
              <a:t>六章主线剧情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260000"/>
            <a:ext cx="1440000" cy="28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1512000"/>
            <a:ext cx="1080000" cy="54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512000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微软雅黑"/>
              </a:rPr>
              <a:t>第一章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2000" y="1512000"/>
            <a:ext cx="1800000" cy="54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2000" y="1512000"/>
            <a:ext cx="1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3C6E"/>
                </a:solidFill>
                <a:latin typeface="微软雅黑"/>
              </a:rPr>
              <a:t>初入书院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4000" y="1512000"/>
            <a:ext cx="7200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8000" y="1512000"/>
            <a:ext cx="70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拜师颜夫子，研读《易经》，初阵论道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2142000"/>
            <a:ext cx="1080000" cy="54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2142000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微软雅黑"/>
              </a:rPr>
              <a:t>第二章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2000" y="2142000"/>
            <a:ext cx="1800000" cy="54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2000" y="2142000"/>
            <a:ext cx="1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3C6E"/>
                </a:solidFill>
                <a:latin typeface="微软雅黑"/>
              </a:rPr>
              <a:t>格物致知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4000" y="2142000"/>
            <a:ext cx="7200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8000" y="2142000"/>
            <a:ext cx="70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与苏辩师切磋，向青云道人问道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2772000"/>
            <a:ext cx="1080000" cy="54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2772000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微软雅黑"/>
              </a:rPr>
              <a:t>第三章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2000" y="2772000"/>
            <a:ext cx="1800000" cy="54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2000" y="2772000"/>
            <a:ext cx="1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3C6E"/>
                </a:solidFill>
                <a:latin typeface="微软雅黑"/>
              </a:rPr>
              <a:t>下山历练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4000" y="2772000"/>
            <a:ext cx="7200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8000" y="2772000"/>
            <a:ext cx="70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游历清平镇，体察民间疾苦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3402000"/>
            <a:ext cx="1080000" cy="54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3402000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微软雅黑"/>
              </a:rPr>
              <a:t>第四章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2000" y="3402000"/>
            <a:ext cx="1800000" cy="54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2000" y="3402000"/>
            <a:ext cx="1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3C6E"/>
                </a:solidFill>
                <a:latin typeface="微软雅黑"/>
              </a:rPr>
              <a:t>朝堂风云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4000" y="3402000"/>
            <a:ext cx="7200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8000" y="3402000"/>
            <a:ext cx="70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入都城，与文太傅、韩尚书辩儒法之争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4032000"/>
            <a:ext cx="1080000" cy="54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000" y="4032000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微软雅黑"/>
              </a:rPr>
              <a:t>第五章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2000" y="4032000"/>
            <a:ext cx="1800000" cy="54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2000" y="4032000"/>
            <a:ext cx="1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3C6E"/>
                </a:solidFill>
                <a:latin typeface="微软雅黑"/>
              </a:rPr>
              <a:t>兼爱非攻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4000" y="4032000"/>
            <a:ext cx="7200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8000" y="4032000"/>
            <a:ext cx="70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赴边关，见墨将军，悟战争与和平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000" y="4662000"/>
            <a:ext cx="1080000" cy="54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000" y="4662000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微软雅黑"/>
              </a:rPr>
              <a:t>终章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2000" y="4662000"/>
            <a:ext cx="1800000" cy="54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2000" y="4662000"/>
            <a:ext cx="1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3C6E"/>
                </a:solidFill>
                <a:latin typeface="微软雅黑"/>
              </a:rPr>
              <a:t>问道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4000" y="4662000"/>
            <a:ext cx="7200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88000" y="4662000"/>
            <a:ext cx="70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</a:rPr>
              <a:t>归书院，与自己论道，融会百家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00" y="5472000"/>
            <a:ext cx="104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  <a:latin typeface="微软雅黑"/>
              </a:rPr>
              <a:t>九重境界：初学 → 格物 → 致知 → 诚意 → 正心 → 修身 → 齐家 → 治国 → 平天下（取自《大学》八条目）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七、总结与展望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1695" y="108000"/>
            <a:ext cx="72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C9A227"/>
                </a:solidFill>
                <a:latin typeface="微软雅黑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项目总结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A3C6E"/>
                </a:solidFill>
                <a:latin typeface="微软雅黑"/>
              </a:rPr>
              <a:t>完成成果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完整实现 MUD 文字游戏全部核心功能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10个核心类，严格 OOP 设计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数据驱动架构，可扩展性强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数字菜单交互，操作简便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6章主线剧情，文化内涵丰富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1A3C6E"/>
                </a:solidFill>
                <a:latin typeface="微软雅黑"/>
              </a:rPr>
              <a:t>技术收获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C++17 特性运用（结构化绑定等）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面向对象分析与设计完整流程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数据驱动架构设计实践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内存安全与指针管理经验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终端彩色界面与交互设计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936000"/>
            <a:ext cx="5220000" cy="4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0000" y="936000"/>
            <a:ext cx="5220000" cy="396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0" y="936000"/>
            <a:ext cx="486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不足与未来展望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000" y="1439999"/>
            <a:ext cx="4788000" cy="41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微软雅黑"/>
              </a:rPr>
              <a:t>当前不足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NPC 战斗 AI 简单，缺乏策略性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剧情线性，缺少分支和多结局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无存档/读档功能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地图规模有限，可探索区域少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600" b="1">
                <a:solidFill>
                  <a:srgbClr val="C9A227"/>
                </a:solidFill>
                <a:latin typeface="微软雅黑"/>
              </a:rPr>
              <a:t>未来方向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增加存档系统（序列化玩家状态）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引入智能 NPC AI（基于血量策略）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设计分支剧情和道德值系统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扩展地图和 NPC，增加支线任务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尝试网络功能，演进为多人 MUD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1080000"/>
            <a:ext cx="54000" cy="2880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60000" y="1440000"/>
            <a:ext cx="900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华文行楷"/>
              </a:rP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340000"/>
            <a:ext cx="90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楷体"/>
              </a:rPr>
              <a:t>道阻且长，行则将至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3060000"/>
            <a:ext cx="90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F0F8"/>
                </a:solidFill>
                <a:latin typeface="微软雅黑"/>
              </a:rPr>
              <a:t>《问道》MUD 游戏课程设计报告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18000"/>
            <a:ext cx="12191695" cy="28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